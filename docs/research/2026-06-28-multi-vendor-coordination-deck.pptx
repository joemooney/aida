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notesMaster" Target="notesMasters/notesMaster1.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shift explicit: as code gets cheaper, coordination gets more expensive. The practical problem is not “can an agent write code?” It is “can 5, 20, or 100 agents change the same program without losing intent?”</a:t>
            </a:r>
          </a:p>
          <a:p>
            <a:pPr lvl="0" indent="0" marL="0">
              <a:buNone/>
            </a:pPr>
          </a:p>
          <a:p>
            <a:pPr lvl="0" indent="0" marL="0">
              <a:buNone/>
            </a:pPr>
            <a:r>
              <a:rPr/>
              <a:t>Timing: 1 minute.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important correction to make professionally: the space is not empty. Beads/Gas Town and GNAP matter. The right claim is narrower: no one has clearly assembled the exact bundle of program-owned requirement graph, trace enforcement, lifecycle, approval authority, and vendor-neutral coordination.</a:t>
            </a:r>
          </a:p>
          <a:p>
            <a:pPr lvl="0" indent="0" marL="0">
              <a:buNone/>
            </a:pPr>
          </a:p>
          <a:p>
            <a:pPr lvl="0" indent="0" marL="0">
              <a:buNone/>
            </a:pPr>
            <a:r>
              <a:rPr/>
              <a:t>Timing: 1.5 minutes.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thesis. Say it plainly: vendors can absolutely build coordination. The incentive problem is portability. A vendor-owned coordination record strengthens lock-in; a program-owned coordination record weakens it.</a:t>
            </a:r>
          </a:p>
          <a:p>
            <a:pPr lvl="0" indent="0" marL="0">
              <a:buNone/>
            </a:pPr>
          </a:p>
          <a:p>
            <a:pPr lvl="0" indent="0" marL="0">
              <a:buNone/>
            </a:pPr>
            <a:r>
              <a:rPr/>
              <a:t>Timing: 1 minute.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concrete but not implementation-heavy. The audience should understand that the proposal is to test the minimum state: identity, relationships, traces, lifecycle, and handoffs. AIDA embodies one version of that substrate, but the research question is larger than AIDA.</a:t>
            </a:r>
          </a:p>
          <a:p>
            <a:pPr lvl="0" indent="0" marL="0">
              <a:buNone/>
            </a:pPr>
          </a:p>
          <a:p>
            <a:pPr lvl="0" indent="0" marL="0">
              <a:buNone/>
            </a:pPr>
            <a:r>
              <a:rPr/>
              <a:t>Timing: 1 minute.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makes the presentation feel empirical rather than speculative. Be careful with scope: these are pilots and design-science evidence, not broad statistical proof. The credibility comes from naming the limits.</a:t>
            </a:r>
          </a:p>
          <a:p>
            <a:pPr lvl="0" indent="0" marL="0">
              <a:buNone/>
            </a:pPr>
          </a:p>
          <a:p>
            <a:pPr lvl="0" indent="0" marL="0">
              <a:buNone/>
            </a:pPr>
            <a:r>
              <a:rPr/>
              <a:t>Timing: 1.5 minutes.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you connect to the research proposal’s proof points. Emphasize measurable proof points over roadmap promises. The proposal is attractive because it is falsifiable: if the substrate does not surface more reuse, reduce rework, or preserve optionality, do not scale it.</a:t>
            </a:r>
          </a:p>
          <a:p>
            <a:pPr lvl="0" indent="0" marL="0">
              <a:buNone/>
            </a:pPr>
          </a:p>
          <a:p>
            <a:pPr lvl="0" indent="0" marL="0">
              <a:buNone/>
            </a:pPr>
            <a:r>
              <a:rPr/>
              <a:t>Timing: 1 minute.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executive close: measure before betting. The W arm is important because it separates “the graph helped” from “writing anything down helped.” The recommended pilot is not org-wide adoption; it is a cheap falsification attempt.</a:t>
            </a:r>
          </a:p>
          <a:p>
            <a:pPr lvl="0" indent="0" marL="0">
              <a:buNone/>
            </a:pPr>
          </a:p>
          <a:p>
            <a:pPr lvl="0" indent="0" marL="0">
              <a:buNone/>
            </a:pPr>
            <a:r>
              <a:rPr/>
              <a:t>Timing: 1.25 minutes.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with a clear, pragmatic stance. The proposal is not anti-vendor. It says use vendor runtimes aggressively, but do not let them become the system of record for program intent and coordination if multi-vendor, long-lived work matters.</a:t>
            </a:r>
          </a:p>
          <a:p>
            <a:pPr lvl="0" indent="0" marL="0">
              <a:buNone/>
            </a:pPr>
          </a:p>
          <a:p>
            <a:pPr lvl="0" indent="0" marL="0">
              <a:buNone/>
            </a:pPr>
            <a:r>
              <a:rPr/>
              <a:t>Timing: 45 seconds.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Coordinating Multi-Vendor AI Agent Fleets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What must agents share to stay coherent, safe, and auditable across vendors, sessions, teams, and time?</a:t>
            </a:r>
            <a:br/>
            <a:br/>
            <a:r>
              <a:rPr/>
              <a:t>Joe Mooney</a:t>
            </a:r>
          </a:p>
        </p:txBody>
      </p:sp>
      <p:sp>
        <p:nvSpPr>
          <p:cNvPr id="4" name="Date Placeholder 3"/>
          <p:cNvSpPr>
            <a:spLocks noGrp="1"/>
          </p:cNvSpPr>
          <p:nvPr>
            <p:ph idx="10" sz="half" type="dt"/>
          </p:nvPr>
        </p:nvSpPr>
        <p:spPr/>
        <p:txBody>
          <a:bodyPr/>
          <a:lstStyle/>
          <a:p>
            <a:pPr lvl="0" indent="0" marL="0">
              <a:buNone/>
            </a:pPr>
            <a:r>
              <a:rPr/>
              <a:t>June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Matters Now</a:t>
            </a:r>
          </a:p>
        </p:txBody>
      </p:sp>
      <p:sp>
        <p:nvSpPr>
          <p:cNvPr id="3" name="Content Placeholder 2"/>
          <p:cNvSpPr>
            <a:spLocks noGrp="1"/>
          </p:cNvSpPr>
          <p:nvPr>
            <p:ph idx="1"/>
          </p:nvPr>
        </p:nvSpPr>
        <p:spPr/>
        <p:txBody>
          <a:bodyPr/>
          <a:lstStyle/>
          <a:p>
            <a:pPr lvl="0" indent="0" marL="0">
              <a:spcBef>
                <a:spcPts val="3000"/>
              </a:spcBef>
              <a:buNone/>
            </a:pPr>
            <a:r>
              <a:rPr b="1"/>
              <a:t>Code generation is no longer the bottleneck</a:t>
            </a:r>
          </a:p>
          <a:p>
            <a:pPr lvl="0" indent="0" marL="0">
              <a:buNone/>
            </a:pPr>
            <a:r>
              <a:rPr/>
              <a:t>Agents are becoming:</a:t>
            </a:r>
          </a:p>
          <a:p>
            <a:pPr lvl="0"/>
            <a:r>
              <a:rPr b="1"/>
              <a:t>Concurrent</a:t>
            </a:r>
            <a:r>
              <a:rPr/>
              <a:t>: many agents working at once</a:t>
            </a:r>
          </a:p>
          <a:p>
            <a:pPr lvl="0"/>
            <a:r>
              <a:rPr b="1"/>
              <a:t>Forgetful</a:t>
            </a:r>
            <a:r>
              <a:rPr/>
              <a:t>: each session starts cold</a:t>
            </a:r>
          </a:p>
          <a:p>
            <a:pPr lvl="0"/>
            <a:r>
              <a:rPr b="1"/>
              <a:t>Heterogeneous</a:t>
            </a:r>
            <a:r>
              <a:rPr/>
              <a:t>: Claude, Codex, Gemini, Copilot, goose, Cursor, Devin</a:t>
            </a:r>
          </a:p>
          <a:p>
            <a:pPr lvl="0"/>
            <a:r>
              <a:rPr b="1"/>
              <a:t>Long-lived</a:t>
            </a:r>
            <a:r>
              <a:rPr/>
              <a:t>: software programs outlast vendors and staff</a:t>
            </a:r>
          </a:p>
          <a:p>
            <a:pPr lvl="0" indent="0" marL="0">
              <a:buNone/>
            </a:pPr>
            <a:r>
              <a:rPr/>
              <a:t>The scarce artifact becomes </a:t>
            </a:r>
            <a:r>
              <a:rPr b="1"/>
              <a:t>shared intent</a:t>
            </a:r>
            <a:r>
              <a:rPr/>
              <a:t>: what exists, why, who owns it, what depends on it, and which code satisfies 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Market Is Solving Coordination</a:t>
            </a:r>
          </a:p>
        </p:txBody>
      </p:sp>
      <p:sp>
        <p:nvSpPr>
          <p:cNvPr id="4" name="Text Placeholder 3"/>
          <p:cNvSpPr>
            <a:spLocks noGrp="1"/>
          </p:cNvSpPr>
          <p:nvPr>
            <p:ph idx="2" sz="half" type="body"/>
          </p:nvPr>
        </p:nvSpPr>
        <p:spPr/>
        <p:txBody>
          <a:bodyPr/>
          <a:lstStyle/>
          <a:p>
            <a:pPr lvl="0" indent="0" marL="0">
              <a:spcBef>
                <a:spcPts val="3000"/>
              </a:spcBef>
              <a:buNone/>
            </a:pPr>
            <a:r>
              <a:rPr b="1"/>
              <a:t>But mostly inside vendor or tool boundaries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Lane</a:t>
                      </a:r>
                    </a:p>
                  </a:txBody>
                  <a:tcPr/>
                </a:tc>
                <a:tc>
                  <a:txBody>
                    <a:bodyPr/>
                    <a:lstStyle/>
                    <a:p>
                      <a:pPr lvl="0" indent="0" marL="0">
                        <a:buNone/>
                      </a:pPr>
                      <a:r>
                        <a:rPr/>
                        <a:t>Examples</a:t>
                      </a:r>
                    </a:p>
                  </a:txBody>
                  <a:tcPr/>
                </a:tc>
                <a:tc>
                  <a:txBody>
                    <a:bodyPr/>
                    <a:lstStyle/>
                    <a:p>
                      <a:pPr lvl="0" indent="0" marL="0">
                        <a:buNone/>
                      </a:pPr>
                      <a:r>
                        <a:rPr/>
                        <a:t>What it proves</a:t>
                      </a:r>
                    </a:p>
                  </a:txBody>
                  <a:tcPr/>
                </a:tc>
                <a:tc>
                  <a:txBody>
                    <a:bodyPr/>
                    <a:lstStyle/>
                    <a:p>
                      <a:pPr lvl="0" indent="0" marL="0">
                        <a:buNone/>
                      </a:pPr>
                      <a:r>
                        <a:rPr/>
                        <a:t>Limit</a:t>
                      </a:r>
                    </a:p>
                  </a:txBody>
                  <a:tcPr/>
                </a:tc>
              </a:tr>
              <a:tr h="0">
                <a:tc>
                  <a:txBody>
                    <a:bodyPr/>
                    <a:lstStyle/>
                    <a:p>
                      <a:pPr lvl="0" indent="0" marL="0">
                        <a:buNone/>
                      </a:pPr>
                      <a:r>
                        <a:rPr/>
                        <a:t>Vendor-native coordination</a:t>
                      </a:r>
                    </a:p>
                  </a:txBody>
                </a:tc>
                <a:tc>
                  <a:txBody>
                    <a:bodyPr/>
                    <a:lstStyle/>
                    <a:p>
                      <a:pPr lvl="0" indent="0" marL="0">
                        <a:buNone/>
                      </a:pPr>
                      <a:r>
                        <a:rPr/>
                        <a:t>Claude Code Agent Teams; Codex subagents</a:t>
                      </a:r>
                    </a:p>
                  </a:txBody>
                </a:tc>
                <a:tc>
                  <a:txBody>
                    <a:bodyPr/>
                    <a:lstStyle/>
                    <a:p>
                      <a:pPr lvl="0" indent="0" marL="0">
                        <a:buNone/>
                      </a:pPr>
                      <a:r>
                        <a:rPr/>
                        <a:t>Coordination is a real platform problem</a:t>
                      </a:r>
                    </a:p>
                  </a:txBody>
                </a:tc>
                <a:tc>
                  <a:txBody>
                    <a:bodyPr/>
                    <a:lstStyle/>
                    <a:p>
                      <a:pPr lvl="0" indent="0" marL="0">
                        <a:buNone/>
                      </a:pPr>
                      <a:r>
                        <a:rPr/>
                        <a:t>Usually one vendor’s agents and runtime</a:t>
                      </a:r>
                    </a:p>
                  </a:txBody>
                </a:tc>
              </a:tr>
              <a:tr h="0">
                <a:tc>
                  <a:txBody>
                    <a:bodyPr/>
                    <a:lstStyle/>
                    <a:p>
                      <a:pPr lvl="0" indent="0" marL="0">
                        <a:buNone/>
                      </a:pPr>
                      <a:r>
                        <a:rPr/>
                        <a:t>Durable OSS coordination</a:t>
                      </a:r>
                    </a:p>
                  </a:txBody>
                </a:tc>
                <a:tc>
                  <a:txBody>
                    <a:bodyPr/>
                    <a:lstStyle/>
                    <a:p>
                      <a:pPr lvl="0" indent="0" marL="0">
                        <a:buNone/>
                      </a:pPr>
                      <a:r>
                        <a:rPr/>
                        <a:t>Beads + Gas Town; GNAP; Goosetown</a:t>
                      </a:r>
                    </a:p>
                  </a:txBody>
                </a:tc>
                <a:tc>
                  <a:txBody>
                    <a:bodyPr/>
                    <a:lstStyle/>
                    <a:p>
                      <a:pPr lvl="0" indent="0" marL="0">
                        <a:buNone/>
                      </a:pPr>
                      <a:r>
                        <a:rPr/>
                        <a:t>The portable-record idea is real</a:t>
                      </a:r>
                    </a:p>
                  </a:txBody>
                </a:tc>
                <a:tc>
                  <a:txBody>
                    <a:bodyPr/>
                    <a:lstStyle/>
                    <a:p>
                      <a:pPr lvl="0" indent="0" marL="0">
                        <a:buNone/>
                      </a:pPr>
                      <a:r>
                        <a:rPr/>
                        <a:t>Fragmented, young, or different model</a:t>
                      </a:r>
                    </a:p>
                  </a:txBody>
                </a:tc>
              </a:tr>
              <a:tr h="0">
                <a:tc>
                  <a:txBody>
                    <a:bodyPr/>
                    <a:lstStyle/>
                    <a:p>
                      <a:pPr lvl="0" indent="0" marL="0">
                        <a:buNone/>
                      </a:pPr>
                      <a:r>
                        <a:rPr/>
                        <a:t>Messaging substrate</a:t>
                      </a:r>
                    </a:p>
                  </a:txBody>
                </a:tc>
                <a:tc>
                  <a:txBody>
                    <a:bodyPr/>
                    <a:lstStyle/>
                    <a:p>
                      <a:pPr lvl="0" indent="0" marL="0">
                        <a:buNone/>
                      </a:pPr>
                      <a:r>
                        <a:rPr/>
                        <a:t>agmsg; tap; Agent Mail</a:t>
                      </a:r>
                    </a:p>
                  </a:txBody>
                </a:tc>
                <a:tc>
                  <a:txBody>
                    <a:bodyPr/>
                    <a:lstStyle/>
                    <a:p>
                      <a:pPr lvl="0" indent="0" marL="0">
                        <a:buNone/>
                      </a:pPr>
                      <a:r>
                        <a:rPr/>
                        <a:t>Cross-agent messaging is commoditizing</a:t>
                      </a:r>
                    </a:p>
                  </a:txBody>
                </a:tc>
                <a:tc>
                  <a:txBody>
                    <a:bodyPr/>
                    <a:lstStyle/>
                    <a:p>
                      <a:pPr lvl="0" indent="0" marL="0">
                        <a:buNone/>
                      </a:pPr>
                      <a:r>
                        <a:rPr/>
                        <a:t>Message bus, not a requirement record</a:t>
                      </a:r>
                    </a:p>
                  </a:txBody>
                </a:tc>
              </a:tr>
              <a:tr h="0">
                <a:tc>
                  <a:txBody>
                    <a:bodyPr/>
                    <a:lstStyle/>
                    <a:p>
                      <a:pPr lvl="0" indent="0" marL="0">
                        <a:buNone/>
                      </a:pPr>
                      <a:r>
                        <a:rPr/>
                        <a:t>SDD / spec tooling</a:t>
                      </a:r>
                    </a:p>
                  </a:txBody>
                </a:tc>
                <a:tc>
                  <a:txBody>
                    <a:bodyPr/>
                    <a:lstStyle/>
                    <a:p>
                      <a:pPr lvl="0" indent="0" marL="0">
                        <a:buNone/>
                      </a:pPr>
                      <a:r>
                        <a:rPr/>
                        <a:t>Spec Kit; Kiro; OpenSpec; BMAD</a:t>
                      </a:r>
                    </a:p>
                  </a:txBody>
                </a:tc>
                <a:tc>
                  <a:txBody>
                    <a:bodyPr/>
                    <a:lstStyle/>
                    <a:p>
                      <a:pPr lvl="0" indent="0" marL="0">
                        <a:buNone/>
                      </a:pPr>
                      <a:r>
                        <a:rPr/>
                        <a:t>Specs-as-artifacts is mainstream</a:t>
                      </a:r>
                    </a:p>
                  </a:txBody>
                </a:tc>
                <a:tc>
                  <a:txBody>
                    <a:bodyPr/>
                    <a:lstStyle/>
                    <a:p>
                      <a:pPr lvl="0" indent="0" marL="0">
                        <a:buNone/>
                      </a:pPr>
                      <a:r>
                        <a:rPr/>
                        <a:t>Often per-feature, not a maintained graph</a:t>
                      </a:r>
                    </a:p>
                  </a:txBody>
                </a:tc>
              </a:tr>
              <a:tr h="0">
                <a:tc>
                  <a:txBody>
                    <a:bodyPr/>
                    <a:lstStyle/>
                    <a:p>
                      <a:pPr lvl="0" indent="0" marL="0">
                        <a:buNone/>
                      </a:pPr>
                      <a:r>
                        <a:rPr/>
                        <a:t>Standards</a:t>
                      </a:r>
                    </a:p>
                  </a:txBody>
                </a:tc>
                <a:tc>
                  <a:txBody>
                    <a:bodyPr/>
                    <a:lstStyle/>
                    <a:p>
                      <a:pPr lvl="0" indent="0" marL="0">
                        <a:buNone/>
                      </a:pPr>
                      <a:r>
                        <a:rPr/>
                        <a:t>MCP; A2A; AGENTS.md</a:t>
                      </a:r>
                    </a:p>
                  </a:txBody>
                </a:tc>
                <a:tc>
                  <a:txBody>
                    <a:bodyPr/>
                    <a:lstStyle/>
                    <a:p>
                      <a:pPr lvl="0" indent="0" marL="0">
                        <a:buNone/>
                      </a:pPr>
                      <a:r>
                        <a:rPr/>
                        <a:t>Transport and context are standardizing</a:t>
                      </a:r>
                    </a:p>
                  </a:txBody>
                </a:tc>
                <a:tc>
                  <a:txBody>
                    <a:bodyPr/>
                    <a:lstStyle/>
                    <a:p>
                      <a:pPr lvl="0" indent="0" marL="0">
                        <a:buNone/>
                      </a:pPr>
                      <a:r>
                        <a:rPr/>
                        <a:t>They stop short of a durable coordination record</a:t>
                      </a:r>
                    </a:p>
                  </a:txBody>
                </a:tc>
              </a:tr>
              <a:tr h="0">
                <a:tc>
                  <a:txBody>
                    <a:bodyPr/>
                    <a:lstStyle/>
                    <a:p>
                      <a:pPr lvl="0" indent="0" marL="0">
                        <a:buNone/>
                      </a:pPr>
                      <a:r>
                        <a:rPr/>
                        <a:t>Orchestration frameworks</a:t>
                      </a:r>
                    </a:p>
                  </a:txBody>
                </a:tc>
                <a:tc>
                  <a:txBody>
                    <a:bodyPr/>
                    <a:lstStyle/>
                    <a:p>
                      <a:pPr lvl="0" indent="0" marL="0">
                        <a:buNone/>
                      </a:pPr>
                      <a:r>
                        <a:rPr/>
                        <a:t>LangGraph; CrewAI; AutoGen/AG2</a:t>
                      </a:r>
                    </a:p>
                  </a:txBody>
                </a:tc>
                <a:tc>
                  <a:txBody>
                    <a:bodyPr/>
                    <a:lstStyle/>
                    <a:p>
                      <a:pPr lvl="0" indent="0" marL="0">
                        <a:buNone/>
                      </a:pPr>
                      <a:r>
                        <a:rPr/>
                        <a:t>Patterns, checkpoints, memory, tracing are maturing</a:t>
                      </a:r>
                    </a:p>
                  </a:txBody>
                </a:tc>
                <a:tc>
                  <a:txBody>
                    <a:bodyPr/>
                    <a:lstStyle/>
                    <a:p>
                      <a:pPr lvl="0" indent="0" marL="0">
                        <a:buNone/>
                      </a:pPr>
                      <a:r>
                        <a:rPr/>
                        <a:t>Usually app/runtime state, not program-owned intent</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Open Slice</a:t>
            </a:r>
          </a:p>
        </p:txBody>
      </p:sp>
      <p:sp>
        <p:nvSpPr>
          <p:cNvPr id="3" name="Content Placeholder 2"/>
          <p:cNvSpPr>
            <a:spLocks noGrp="1"/>
          </p:cNvSpPr>
          <p:nvPr>
            <p:ph idx="1"/>
          </p:nvPr>
        </p:nvSpPr>
        <p:spPr/>
        <p:txBody>
          <a:bodyPr/>
          <a:lstStyle/>
          <a:p>
            <a:pPr lvl="0" indent="0" marL="0">
              <a:spcBef>
                <a:spcPts val="3000"/>
              </a:spcBef>
              <a:buNone/>
            </a:pPr>
            <a:r>
              <a:rPr b="1"/>
              <a:t>A program-owned coordination record</a:t>
            </a:r>
          </a:p>
          <a:p>
            <a:pPr lvl="0" indent="0" marL="0">
              <a:buNone/>
            </a:pPr>
            <a:r>
              <a:rPr/>
              <a:t>The gap is not “multi-agent coordination.”</a:t>
            </a:r>
            <a:br/>
            <a:r>
              <a:rPr/>
              <a:t>The gap is </a:t>
            </a:r>
            <a:r>
              <a:rPr b="1"/>
              <a:t>coordination the program owns</a:t>
            </a:r>
            <a:r>
              <a:rPr/>
              <a:t>.</a:t>
            </a:r>
          </a:p>
          <a:p>
            <a:pPr lvl="0" indent="0" marL="0">
              <a:buNone/>
            </a:pPr>
            <a:r>
              <a:rPr/>
              <a:t>It must be:</a:t>
            </a:r>
          </a:p>
          <a:p>
            <a:pPr lvl="0"/>
            <a:r>
              <a:rPr b="1"/>
              <a:t>Vendor-neutral</a:t>
            </a:r>
            <a:r>
              <a:rPr/>
              <a:t>: any agent can participate</a:t>
            </a:r>
          </a:p>
          <a:p>
            <a:pPr lvl="0"/>
            <a:r>
              <a:rPr b="1"/>
              <a:t>Durable</a:t>
            </a:r>
            <a:r>
              <a:rPr/>
              <a:t>: survives sessions, tools, and vendor changes</a:t>
            </a:r>
          </a:p>
          <a:p>
            <a:pPr lvl="0"/>
            <a:r>
              <a:rPr b="1"/>
              <a:t>Inspectable</a:t>
            </a:r>
            <a:r>
              <a:rPr/>
              <a:t>: reconstruct who did what, when, and under what authority</a:t>
            </a:r>
          </a:p>
          <a:p>
            <a:pPr lvl="0"/>
            <a:r>
              <a:rPr b="1"/>
              <a:t>Traceable</a:t>
            </a:r>
            <a:r>
              <a:rPr/>
              <a:t>: connect requirement -&gt; code -&gt; review -&gt; merge</a:t>
            </a:r>
          </a:p>
          <a:p>
            <a:pPr lvl="0"/>
            <a:r>
              <a:rPr b="1"/>
              <a:t>Portable</a:t>
            </a:r>
            <a:r>
              <a:rPr/>
              <a:t>: readable without a hosted control plane</a:t>
            </a:r>
          </a:p>
          <a:p>
            <a:pPr lvl="0" indent="0" marL="0">
              <a:buNone/>
            </a:pPr>
            <a:r>
              <a:rPr b="1"/>
              <a:t>Core hypothesis:</a:t>
            </a:r>
            <a:r>
              <a:rPr/>
              <a:t> vendors are incentivized to coordinate their own agents well, but disincentivized to make that coordination portable across competitors.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Proposed Substrate</a:t>
            </a:r>
          </a:p>
        </p:txBody>
      </p:sp>
      <p:sp>
        <p:nvSpPr>
          <p:cNvPr id="3" name="Content Placeholder 2"/>
          <p:cNvSpPr>
            <a:spLocks noGrp="1"/>
          </p:cNvSpPr>
          <p:nvPr>
            <p:ph idx="1"/>
          </p:nvPr>
        </p:nvSpPr>
        <p:spPr/>
        <p:txBody>
          <a:bodyPr/>
          <a:lstStyle/>
          <a:p>
            <a:pPr lvl="0" indent="0" marL="0">
              <a:spcBef>
                <a:spcPts val="3000"/>
              </a:spcBef>
              <a:buNone/>
            </a:pPr>
            <a:r>
              <a:rPr b="1"/>
              <a:t>The minimum shared state to test</a:t>
            </a:r>
          </a:p>
          <a:p>
            <a:pPr lvl="0" indent="0">
              <a:buNone/>
            </a:pPr>
            <a:r>
              <a:rPr>
                <a:latin typeface="Courier"/>
              </a:rPr>
              <a:t>Typed requirement graph
  stable IDs | relationships | lifecycle
Code-to-spec traces
  source comments | commit trailers | merge linkage
Coordination layer
  queue | leases | roles | briefs | reviews | escalations
Runtime controls
  checkpoints | retries | circuit breakers | cost traces
Program-owned store
  versioned | auditable | exportable | offline-capable</a:t>
            </a:r>
          </a:p>
          <a:p>
            <a:pPr lvl="0" indent="0" marL="0">
              <a:buNone/>
            </a:pPr>
            <a:r>
              <a:rPr/>
              <a:t>Agents coordinate by reading and writing the same durable substrate, not by relying on one vendor’s live session memory.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We Already Know</a:t>
            </a:r>
          </a:p>
        </p:txBody>
      </p:sp>
      <p:sp>
        <p:nvSpPr>
          <p:cNvPr id="4" name="Text Placeholder 3"/>
          <p:cNvSpPr>
            <a:spLocks noGrp="1"/>
          </p:cNvSpPr>
          <p:nvPr>
            <p:ph idx="2" sz="half" type="body"/>
          </p:nvPr>
        </p:nvSpPr>
        <p:spPr/>
        <p:txBody>
          <a:bodyPr/>
          <a:lstStyle/>
          <a:p>
            <a:pPr lvl="0" indent="0" marL="0">
              <a:spcBef>
                <a:spcPts val="3000"/>
              </a:spcBef>
              <a:buNone/>
            </a:pPr>
            <a:r>
              <a:rPr b="1"/>
              <a:t>Early findings from the probe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Finding</a:t>
                      </a:r>
                    </a:p>
                  </a:txBody>
                  <a:tcPr/>
                </a:tc>
                <a:tc>
                  <a:txBody>
                    <a:bodyPr/>
                    <a:lstStyle/>
                    <a:p>
                      <a:pPr lvl="0" indent="0" marL="0">
                        <a:buNone/>
                      </a:pPr>
                      <a:r>
                        <a:rPr/>
                        <a:t>Evidence so far</a:t>
                      </a:r>
                    </a:p>
                  </a:txBody>
                  <a:tcPr/>
                </a:tc>
                <a:tc>
                  <a:txBody>
                    <a:bodyPr/>
                    <a:lstStyle/>
                    <a:p>
                      <a:pPr lvl="0" indent="0" marL="0">
                        <a:buNone/>
                      </a:pPr>
                      <a:r>
                        <a:rPr/>
                        <a:t>Interpretation</a:t>
                      </a:r>
                    </a:p>
                  </a:txBody>
                  <a:tcPr/>
                </a:tc>
              </a:tr>
              <a:tr h="0">
                <a:tc>
                  <a:txBody>
                    <a:bodyPr/>
                    <a:lstStyle/>
                    <a:p>
                      <a:pPr lvl="0" indent="0" marL="0">
                        <a:buNone/>
                      </a:pPr>
                      <a:r>
                        <a:rPr/>
                        <a:t>Typed graph pays selectively</a:t>
                      </a:r>
                    </a:p>
                  </a:txBody>
                </a:tc>
                <a:tc>
                  <a:txBody>
                    <a:bodyPr/>
                    <a:lstStyle/>
                    <a:p>
                      <a:pPr lvl="0" indent="0" marL="0">
                        <a:buNone/>
                      </a:pPr>
                      <a:r>
                        <a:rPr/>
                        <a:t>Relational queries ~80x faster at 500 specs; stable IDs prevent rename reference rot</a:t>
                      </a:r>
                    </a:p>
                  </a:txBody>
                </a:tc>
                <a:tc>
                  <a:txBody>
                    <a:bodyPr/>
                    <a:lstStyle/>
                    <a:p>
                      <a:pPr lvl="0" indent="0" marL="0">
                        <a:buNone/>
                      </a:pPr>
                      <a:r>
                        <a:rPr/>
                        <a:t>Use graph where relationships matter; grep still wins for text</a:t>
                      </a:r>
                    </a:p>
                  </a:txBody>
                </a:tc>
              </a:tr>
              <a:tr h="0">
                <a:tc>
                  <a:txBody>
                    <a:bodyPr/>
                    <a:lstStyle/>
                    <a:p>
                      <a:pPr lvl="0" indent="0" marL="0">
                        <a:buNone/>
                      </a:pPr>
                      <a:r>
                        <a:rPr/>
                        <a:t>Cross-vendor onboarding can be near-zero</a:t>
                      </a:r>
                    </a:p>
                  </a:txBody>
                </a:tc>
                <a:tc>
                  <a:txBody>
                    <a:bodyPr/>
                    <a:lstStyle/>
                    <a:p>
                      <a:pPr lvl="0" indent="0" marL="0">
                        <a:buNone/>
                      </a:pPr>
                      <a:r>
                        <a:rPr/>
                        <a:t>Codex joined a running AIDA-style fleet via stock CLI in ~50s, no bespoke integration</a:t>
                      </a:r>
                    </a:p>
                  </a:txBody>
                </a:tc>
                <a:tc>
                  <a:txBody>
                    <a:bodyPr/>
                    <a:lstStyle/>
                    <a:p>
                      <a:pPr lvl="0" indent="0" marL="0">
                        <a:buNone/>
                      </a:pPr>
                      <a:r>
                        <a:rPr/>
                        <a:t>Promising, but n=1 vendor/task</a:t>
                      </a:r>
                    </a:p>
                  </a:txBody>
                </a:tc>
              </a:tr>
              <a:tr h="0">
                <a:tc>
                  <a:txBody>
                    <a:bodyPr/>
                    <a:lstStyle/>
                    <a:p>
                      <a:pPr lvl="0" indent="0" marL="0">
                        <a:buNone/>
                      </a:pPr>
                      <a:r>
                        <a:rPr/>
                        <a:t>Multi-vendor competition is QA</a:t>
                      </a:r>
                    </a:p>
                  </a:txBody>
                </a:tc>
                <a:tc>
                  <a:txBody>
                    <a:bodyPr/>
                    <a:lstStyle/>
                    <a:p>
                      <a:pPr lvl="0" indent="0" marL="0">
                        <a:buNone/>
                      </a:pPr>
                      <a:r>
                        <a:rPr/>
                        <a:t>Vendors converged on design; quality varied on edge cases</a:t>
                      </a:r>
                    </a:p>
                  </a:txBody>
                </a:tc>
                <a:tc>
                  <a:txBody>
                    <a:bodyPr/>
                    <a:lstStyle/>
                    <a:p>
                      <a:pPr lvl="0" indent="0" marL="0">
                        <a:buNone/>
                      </a:pPr>
                      <a:r>
                        <a:rPr/>
                        <a:t>Compete to catch variance, not to expect design diversity</a:t>
                      </a:r>
                    </a:p>
                  </a:txBody>
                </a:tc>
              </a:tr>
              <a:tr h="0">
                <a:tc>
                  <a:txBody>
                    <a:bodyPr/>
                    <a:lstStyle/>
                    <a:p>
                      <a:pPr lvl="0" indent="0" marL="0">
                        <a:buNone/>
                      </a:pPr>
                      <a:r>
                        <a:rPr/>
                        <a:t>Gates need discipline</a:t>
                      </a:r>
                    </a:p>
                  </a:txBody>
                </a:tc>
                <a:tc>
                  <a:txBody>
                    <a:bodyPr/>
                    <a:lstStyle/>
                    <a:p>
                      <a:pPr lvl="0" indent="0" marL="0">
                        <a:buNone/>
                      </a:pPr>
                      <a:r>
                        <a:rPr/>
                        <a:t>Controlled ablations hit 100% rule-following; gates were idle</a:t>
                      </a:r>
                    </a:p>
                  </a:txBody>
                </a:tc>
                <a:tc>
                  <a:txBody>
                    <a:bodyPr/>
                    <a:lstStyle/>
                    <a:p>
                      <a:pPr lvl="0" indent="0" marL="0">
                        <a:buNone/>
                      </a:pPr>
                      <a:r>
                        <a:rPr/>
                        <a:t>Gate high-risk field conditions, not every rule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Plan</a:t>
            </a:r>
          </a:p>
        </p:txBody>
      </p:sp>
      <p:sp>
        <p:nvSpPr>
          <p:cNvPr id="3" name="Content Placeholder 2"/>
          <p:cNvSpPr>
            <a:spLocks noGrp="1"/>
          </p:cNvSpPr>
          <p:nvPr>
            <p:ph idx="1"/>
          </p:nvPr>
        </p:nvSpPr>
        <p:spPr/>
        <p:txBody>
          <a:bodyPr/>
          <a:lstStyle/>
          <a:p>
            <a:pPr lvl="0" indent="0" marL="0">
              <a:spcBef>
                <a:spcPts val="3000"/>
              </a:spcBef>
              <a:buNone/>
            </a:pPr>
            <a:r>
              <a:rPr b="1"/>
              <a:t>Measure coherence, calibration, escalation, and ownership</a:t>
            </a:r>
          </a:p>
          <a:p>
            <a:pPr lvl="0" indent="-342900" marL="342900">
              <a:buAutoNum type="arabicPeriod"/>
            </a:pPr>
            <a:r>
              <a:rPr b="1"/>
              <a:t>Adoption ladder</a:t>
            </a:r>
            <a:br/>
            <a:r>
              <a:rPr/>
              <a:t>Solo -&gt; inter-team -&gt; multi-program -&gt; disconnected/offline</a:t>
            </a:r>
          </a:p>
          <a:p>
            <a:pPr lvl="0" indent="-342900" marL="342900">
              <a:buAutoNum type="arabicPeriod"/>
            </a:pPr>
            <a:r>
              <a:rPr b="1"/>
              <a:t>Vendor-neutrality tests</a:t>
            </a:r>
            <a:br/>
            <a:r>
              <a:rPr/>
              <a:t>Add a new agent vendor; swap a provider mid-program; export/re-import the record</a:t>
            </a:r>
          </a:p>
          <a:p>
            <a:pPr lvl="0" indent="-342900" marL="342900">
              <a:buAutoNum type="arabicPeriod"/>
            </a:pPr>
            <a:r>
              <a:rPr b="1"/>
              <a:t>Coherence metrics</a:t>
            </a:r>
            <a:br/>
            <a:r>
              <a:rPr/>
              <a:t>Does the fleet stay aligned as agents, sessions, and tools multiply?</a:t>
            </a:r>
          </a:p>
          <a:p>
            <a:pPr lvl="0" indent="-342900" marL="342900">
              <a:buAutoNum type="arabicPeriod"/>
            </a:pPr>
            <a:r>
              <a:rPr b="1"/>
              <a:t>Governance metrics</a:t>
            </a:r>
            <a:br/>
            <a:r>
              <a:rPr/>
              <a:t>Can we reconstruct authority, decisions, trace links, and failures from the record alone?</a:t>
            </a:r>
          </a:p>
          <a:p>
            <a:pPr lvl="0" indent="-342900" marL="342900">
              <a:buAutoNum type="arabicPeriod"/>
            </a:pPr>
            <a:r>
              <a:rPr b="1"/>
              <a:t>Production metrics</a:t>
            </a:r>
            <a:br/>
            <a:r>
              <a:rPr/>
              <a:t>Retry loops, resume success, per-agent cost, and trace completeness</a:t>
            </a:r>
          </a:p>
          <a:p>
            <a:pPr lvl="0" indent="-342900" marL="342900">
              <a:buAutoNum type="arabicPeriod"/>
            </a:pPr>
            <a:r>
              <a:rPr b="1"/>
              <a:t>Build-vs-buy decision</a:t>
            </a:r>
            <a:br/>
            <a:r>
              <a:rPr/>
              <a:t>Does owning the substrate beat lighter alternatives enough to justify the tax?</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Recommended Pilot</a:t>
            </a:r>
          </a:p>
        </p:txBody>
      </p:sp>
      <p:sp>
        <p:nvSpPr>
          <p:cNvPr id="3" name="Content Placeholder 2"/>
          <p:cNvSpPr>
            <a:spLocks noGrp="1"/>
          </p:cNvSpPr>
          <p:nvPr>
            <p:ph idx="1"/>
          </p:nvPr>
        </p:nvSpPr>
        <p:spPr/>
        <p:txBody>
          <a:bodyPr/>
          <a:lstStyle/>
          <a:p>
            <a:pPr lvl="0" indent="0" marL="0">
              <a:spcBef>
                <a:spcPts val="3000"/>
              </a:spcBef>
              <a:buNone/>
            </a:pPr>
            <a:r>
              <a:rPr b="1"/>
              <a:t>One-quarter, decision-grade experiment</a:t>
            </a:r>
          </a:p>
          <a:p>
            <a:pPr lvl="0" indent="0" marL="0">
              <a:buNone/>
            </a:pPr>
            <a:r>
              <a:rPr/>
              <a:t>Compare three matched arms:</a:t>
            </a:r>
          </a:p>
          <a:p>
            <a:pPr lvl="0"/>
            <a:r>
              <a:rPr b="1"/>
              <a:t>S: Substrate-backed</a:t>
            </a:r>
            <a:br/>
            <a:r>
              <a:rPr/>
              <a:t>Shared typed graph, traces, lifecycle, coordination record</a:t>
            </a:r>
          </a:p>
          <a:p>
            <a:pPr lvl="0"/>
            <a:r>
              <a:rPr b="1"/>
              <a:t>W: Write-it-down</a:t>
            </a:r>
            <a:br/>
            <a:r>
              <a:rPr/>
              <a:t>Shared unstructured docs/wiki; no typed graph</a:t>
            </a:r>
          </a:p>
          <a:p>
            <a:pPr lvl="0"/>
            <a:r>
              <a:rPr b="1"/>
              <a:t>C: Control</a:t>
            </a:r>
            <a:br/>
            <a:r>
              <a:rPr/>
              <a:t>Existing per-team tools and vendor-native coordination</a:t>
            </a:r>
          </a:p>
          <a:p>
            <a:pPr lvl="0" indent="0" marL="0">
              <a:buNone/>
            </a:pPr>
            <a:r>
              <a:rPr/>
              <a:t>Primary metrics:</a:t>
            </a:r>
          </a:p>
          <a:p>
            <a:pPr lvl="0"/>
            <a:r>
              <a:rPr/>
              <a:t>Synergy events per team-month</a:t>
            </a:r>
          </a:p>
          <a:p>
            <a:pPr lvl="0"/>
            <a:r>
              <a:rPr/>
              <a:t>Median lead time before impact</a:t>
            </a:r>
          </a:p>
          <a:p>
            <a:pPr lvl="0"/>
            <a:r>
              <a:rPr/>
              <a:t>Rework-hours avoided</a:t>
            </a:r>
          </a:p>
          <a:p>
            <a:pPr lvl="0"/>
            <a:r>
              <a:rPr/>
              <a:t>False-positive rate from graph-surfaced candidates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Decision Frame</a:t>
            </a:r>
          </a:p>
        </p:txBody>
      </p:sp>
      <p:sp>
        <p:nvSpPr>
          <p:cNvPr id="3" name="Content Placeholder 2"/>
          <p:cNvSpPr>
            <a:spLocks noGrp="1"/>
          </p:cNvSpPr>
          <p:nvPr>
            <p:ph idx="1"/>
          </p:nvPr>
        </p:nvSpPr>
        <p:spPr/>
        <p:txBody>
          <a:bodyPr/>
          <a:lstStyle/>
          <a:p>
            <a:pPr lvl="0" indent="0" marL="0">
              <a:spcBef>
                <a:spcPts val="3000"/>
              </a:spcBef>
              <a:buNone/>
            </a:pPr>
            <a:r>
              <a:rPr b="1"/>
              <a:t>Own the record; ride the runtime</a:t>
            </a:r>
          </a:p>
          <a:p>
            <a:pPr lvl="0" indent="0" marL="0">
              <a:buNone/>
            </a:pPr>
            <a:r>
              <a:rPr b="1"/>
              <a:t>Ride native</a:t>
            </a:r>
            <a:r>
              <a:rPr/>
              <a:t> where vendor tools are strongest:</a:t>
            </a:r>
          </a:p>
          <a:p>
            <a:pPr lvl="0"/>
            <a:r>
              <a:rPr/>
              <a:t>model execution</a:t>
            </a:r>
          </a:p>
          <a:p>
            <a:pPr lvl="0"/>
            <a:r>
              <a:rPr/>
              <a:t>within-session teams</a:t>
            </a:r>
          </a:p>
          <a:p>
            <a:pPr lvl="0"/>
            <a:r>
              <a:rPr/>
              <a:t>subagents</a:t>
            </a:r>
          </a:p>
          <a:p>
            <a:pPr lvl="0"/>
            <a:r>
              <a:rPr/>
              <a:t>IDE/cloud ergonomics</a:t>
            </a:r>
          </a:p>
          <a:p>
            <a:pPr lvl="0" indent="0" marL="0">
              <a:buNone/>
            </a:pPr>
            <a:r>
              <a:rPr b="1"/>
              <a:t>Own or preserve</a:t>
            </a:r>
            <a:r>
              <a:rPr/>
              <a:t> what compounds:</a:t>
            </a:r>
          </a:p>
          <a:p>
            <a:pPr lvl="0"/>
            <a:r>
              <a:rPr/>
              <a:t>intent graph</a:t>
            </a:r>
          </a:p>
          <a:p>
            <a:pPr lvl="0"/>
            <a:r>
              <a:rPr/>
              <a:t>stable IDs</a:t>
            </a:r>
          </a:p>
          <a:p>
            <a:pPr lvl="0"/>
            <a:r>
              <a:rPr/>
              <a:t>traceability</a:t>
            </a:r>
          </a:p>
          <a:p>
            <a:pPr lvl="0"/>
            <a:r>
              <a:rPr/>
              <a:t>lifecycle history</a:t>
            </a:r>
          </a:p>
          <a:p>
            <a:pPr lvl="0"/>
            <a:r>
              <a:rPr/>
              <a:t>cross-vendor coordination record</a:t>
            </a:r>
          </a:p>
          <a:p>
            <a:pPr lvl="0" indent="0" marL="0">
              <a:buNone/>
            </a:pPr>
            <a:r>
              <a:rPr b="1"/>
              <a:t>Decision rule:</a:t>
            </a:r>
            <a:r>
              <a:rPr/>
              <a:t> proceed only if the substrate surfaces materially earlier cross-team reuse, dependencies, or conflicts than the control arms.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Coordinating Multi-Vendor AI Agent Fleets</dc:title>
  <dc:creator>Joe Mooney</dc:creator>
  <cp:keywords/>
  <dcterms:created xsi:type="dcterms:W3CDTF">2026-06-28T20:30:29Z</dcterms:created>
  <dcterms:modified xsi:type="dcterms:W3CDTF">2026-06-28T20:30:29Z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June 2026</vt:lpwstr>
  </property>
  <property fmtid="{D5CDD505-2E9C-101B-9397-08002B2CF9AE}" pid="3" name="subtitle">
    <vt:lpwstr>What must agents share to stay coherent, safe, and auditable across vendors, sessions, teams, and time?</vt:lpwstr>
  </property>
</Properties>
</file>